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59" r:id="rId6"/>
    <p:sldId id="261" r:id="rId7"/>
    <p:sldId id="271" r:id="rId8"/>
    <p:sldId id="273" r:id="rId9"/>
    <p:sldId id="272" r:id="rId10"/>
    <p:sldId id="265" r:id="rId11"/>
    <p:sldId id="269" r:id="rId12"/>
    <p:sldId id="270" r:id="rId13"/>
  </p:sldIdLst>
  <p:sldSz cx="18288000" cy="10287000"/>
  <p:notesSz cx="6858000" cy="9144000"/>
  <p:embeddedFontLst>
    <p:embeddedFont>
      <p:font typeface="Century Gothic Paneuropean" panose="020B0604020202020204" charset="0"/>
      <p:regular r:id="rId14"/>
    </p:embeddedFont>
    <p:embeddedFont>
      <p:font typeface="Century Gothic Paneuropean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024128" y="1600200"/>
            <a:ext cx="1097280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06240" y="2834640"/>
            <a:ext cx="10972800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SIMULATION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9" name="Freeform 9"/>
          <p:cNvSpPr/>
          <p:nvPr/>
        </p:nvSpPr>
        <p:spPr>
          <a:xfrm>
            <a:off x="14636269" y="1780250"/>
            <a:ext cx="5672235" cy="3363250"/>
          </a:xfrm>
          <a:custGeom>
            <a:avLst/>
            <a:gdLst/>
            <a:ahLst/>
            <a:cxnLst/>
            <a:rect l="l" t="t" r="r" b="b"/>
            <a:pathLst>
              <a:path w="5672235" h="3363250">
                <a:moveTo>
                  <a:pt x="0" y="0"/>
                </a:moveTo>
                <a:lnTo>
                  <a:pt x="5672235" y="0"/>
                </a:lnTo>
                <a:lnTo>
                  <a:pt x="5672235" y="3363250"/>
                </a:lnTo>
                <a:lnTo>
                  <a:pt x="0" y="3363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710669" y="5671086"/>
            <a:ext cx="2711661" cy="3131740"/>
          </a:xfrm>
          <a:custGeom>
            <a:avLst/>
            <a:gdLst/>
            <a:ahLst/>
            <a:cxnLst/>
            <a:rect l="l" t="t" r="r" b="b"/>
            <a:pathLst>
              <a:path w="2711661" h="3131740">
                <a:moveTo>
                  <a:pt x="0" y="0"/>
                </a:moveTo>
                <a:lnTo>
                  <a:pt x="2711661" y="0"/>
                </a:lnTo>
                <a:lnTo>
                  <a:pt x="2711661" y="3131739"/>
                </a:lnTo>
                <a:lnTo>
                  <a:pt x="0" y="31317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165592" y="5806440"/>
            <a:ext cx="877824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 MySQL database that runs phishing campaigns, logs employee responses and automates risk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06908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600" b="1">
                <a:solidFill>
                  <a:srgbClr val="111111"/>
                </a:solidFill>
                <a:latin typeface="Century Gothic Paneuropean Bold"/>
              </a:rPr>
              <a:t>TRACKER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7269480"/>
            <a:ext cx="87782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11111"/>
                </a:solidFill>
                <a:latin typeface="Century Gothic Paneuropean Bold"/>
              </a:rPr>
              <a:t>Presented by: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Tanushree Bali - 1262251830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Pranav Sahoo - 1262250194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Arun S - 1262250907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Neel Mehta - 1262251697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3249287" y="2074034"/>
            <a:ext cx="5246370" cy="7184266"/>
            <a:chOff x="0" y="0"/>
            <a:chExt cx="812800" cy="11130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113031"/>
            </a:xfrm>
            <a:custGeom>
              <a:avLst/>
              <a:gdLst/>
              <a:ahLst/>
              <a:cxnLst/>
              <a:rect l="l" t="t" r="r" b="b"/>
              <a:pathLst>
                <a:path w="812800" h="1113031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079090"/>
                  </a:lnTo>
                  <a:cubicBezTo>
                    <a:pt x="812800" y="1097835"/>
                    <a:pt x="797604" y="1113031"/>
                    <a:pt x="778860" y="1113031"/>
                  </a:cubicBezTo>
                  <a:lnTo>
                    <a:pt x="33940" y="1113031"/>
                  </a:lnTo>
                  <a:cubicBezTo>
                    <a:pt x="15196" y="1113031"/>
                    <a:pt x="0" y="1097835"/>
                    <a:pt x="0" y="107909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-52671" r="-5267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505396" y="2074034"/>
            <a:ext cx="3964386" cy="1916120"/>
          </a:xfrm>
          <a:custGeom>
            <a:avLst/>
            <a:gdLst/>
            <a:ahLst/>
            <a:cxnLst/>
            <a:rect l="l" t="t" r="r" b="b"/>
            <a:pathLst>
              <a:path w="3964386" h="1916120">
                <a:moveTo>
                  <a:pt x="0" y="0"/>
                </a:moveTo>
                <a:lnTo>
                  <a:pt x="3964386" y="0"/>
                </a:lnTo>
                <a:lnTo>
                  <a:pt x="3964386" y="1916120"/>
                </a:lnTo>
                <a:lnTo>
                  <a:pt x="0" y="191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557272" y="7644254"/>
            <a:ext cx="7315200" cy="1864444"/>
          </a:xfrm>
          <a:custGeom>
            <a:avLst/>
            <a:gdLst/>
            <a:ahLst/>
            <a:cxnLst/>
            <a:rect l="l" t="t" r="r" b="b"/>
            <a:pathLst>
              <a:path w="7315200" h="1864444">
                <a:moveTo>
                  <a:pt x="0" y="0"/>
                </a:moveTo>
                <a:lnTo>
                  <a:pt x="7315200" y="0"/>
                </a:lnTo>
                <a:lnTo>
                  <a:pt x="7315200" y="1864443"/>
                </a:lnTo>
                <a:lnTo>
                  <a:pt x="0" y="1864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458990" y="4543737"/>
            <a:ext cx="10918061" cy="1164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64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Project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58990" y="5997064"/>
            <a:ext cx="9516838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Phishing Simulation Tracker is a MySQL database that logs employee clicks and credential entries, then auto-scores risk and locks breached accounts.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418320" y="5943600"/>
            <a:ext cx="7955279" cy="3474720"/>
          </a:xfrm>
          <a:prstGeom prst="roundRect">
            <a:avLst>
              <a:gd name="adj" fmla="val 50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18320" y="2011680"/>
            <a:ext cx="7955279" cy="3474720"/>
          </a:xfrm>
          <a:prstGeom prst="roundRect">
            <a:avLst>
              <a:gd name="adj" fmla="val 50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9"/>
          <p:cNvGrpSpPr/>
          <p:nvPr/>
        </p:nvGrpSpPr>
        <p:grpSpPr>
          <a:xfrm>
            <a:off x="1425053" y="6679457"/>
            <a:ext cx="7019659" cy="2578843"/>
            <a:chOff x="0" y="0"/>
            <a:chExt cx="1087529" cy="3995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7529" cy="399530"/>
            </a:xfrm>
            <a:custGeom>
              <a:avLst/>
              <a:gdLst/>
              <a:ahLst/>
              <a:cxnLst/>
              <a:rect l="l" t="t" r="r" b="b"/>
              <a:pathLst>
                <a:path w="1087529" h="399530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374164"/>
                  </a:lnTo>
                  <a:cubicBezTo>
                    <a:pt x="1087529" y="380891"/>
                    <a:pt x="1084856" y="387343"/>
                    <a:pt x="1080099" y="392101"/>
                  </a:cubicBezTo>
                  <a:cubicBezTo>
                    <a:pt x="1075342" y="396858"/>
                    <a:pt x="1068890" y="399530"/>
                    <a:pt x="1062162" y="399530"/>
                  </a:cubicBezTo>
                  <a:lnTo>
                    <a:pt x="25366" y="399530"/>
                  </a:lnTo>
                  <a:cubicBezTo>
                    <a:pt x="18639" y="399530"/>
                    <a:pt x="12187" y="396858"/>
                    <a:pt x="7430" y="392101"/>
                  </a:cubicBezTo>
                  <a:cubicBezTo>
                    <a:pt x="2673" y="387343"/>
                    <a:pt x="0" y="380891"/>
                    <a:pt x="0" y="374164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3"/>
              <a:stretch>
                <a:fillRect t="-40733" b="-4073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25053" y="1611110"/>
            <a:ext cx="7019659" cy="2578843"/>
            <a:chOff x="0" y="0"/>
            <a:chExt cx="1087529" cy="3995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7529" cy="399530"/>
            </a:xfrm>
            <a:custGeom>
              <a:avLst/>
              <a:gdLst/>
              <a:ahLst/>
              <a:cxnLst/>
              <a:rect l="l" t="t" r="r" b="b"/>
              <a:pathLst>
                <a:path w="1087529" h="399530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374164"/>
                  </a:lnTo>
                  <a:cubicBezTo>
                    <a:pt x="1087529" y="380891"/>
                    <a:pt x="1084856" y="387343"/>
                    <a:pt x="1080099" y="392101"/>
                  </a:cubicBezTo>
                  <a:cubicBezTo>
                    <a:pt x="1075342" y="396858"/>
                    <a:pt x="1068890" y="399530"/>
                    <a:pt x="1062162" y="399530"/>
                  </a:cubicBezTo>
                  <a:lnTo>
                    <a:pt x="25366" y="399530"/>
                  </a:lnTo>
                  <a:cubicBezTo>
                    <a:pt x="18639" y="399530"/>
                    <a:pt x="12187" y="396858"/>
                    <a:pt x="7430" y="392101"/>
                  </a:cubicBezTo>
                  <a:cubicBezTo>
                    <a:pt x="2673" y="387343"/>
                    <a:pt x="0" y="380891"/>
                    <a:pt x="0" y="374164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4"/>
              <a:stretch>
                <a:fillRect t="-40733" b="-40733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26464" y="4983480"/>
            <a:ext cx="73152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8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Scope &amp; Objective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173736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7A7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Century Gothic Paneuropean Bold"/>
              </a:rPr>
              <a:t>What the system manages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606040"/>
            <a:ext cx="7132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11111"/>
                </a:solidFill>
                <a:latin typeface="Century Gothic Paneuropean Bold"/>
              </a:rPr>
              <a:t>Employees</a:t>
            </a:r>
            <a:r>
              <a:rPr sz="2000" b="0">
                <a:solidFill>
                  <a:srgbClr val="111111"/>
                </a:solidFill>
                <a:latin typeface="Century Gothic Paneuropean"/>
              </a:rPr>
              <a:t> — stores name, role, risk score and account status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11111"/>
                </a:solidFill>
                <a:latin typeface="Century Gothic Paneuropean Bold"/>
              </a:rPr>
              <a:t>Campaigns</a:t>
            </a:r>
            <a:r>
              <a:rPr sz="2000" b="0">
                <a:solidFill>
                  <a:srgbClr val="111111"/>
                </a:solidFill>
                <a:latin typeface="Century Gothic Paneuropean"/>
              </a:rPr>
              <a:t> — stores each phishing campaign and its payload type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11111"/>
                </a:solidFill>
                <a:latin typeface="Century Gothic Paneuropean Bold"/>
              </a:rPr>
              <a:t>Simulation Logs</a:t>
            </a:r>
            <a:r>
              <a:rPr sz="2000" b="0">
                <a:solidFill>
                  <a:srgbClr val="111111"/>
                </a:solidFill>
                <a:latin typeface="Century Gothic Paneuropean"/>
              </a:rPr>
              <a:t> — records link clicks and credential submissions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11111"/>
                </a:solidFill>
                <a:latin typeface="Century Gothic Paneuropean Bold"/>
              </a:rPr>
              <a:t>Automation</a:t>
            </a:r>
            <a:r>
              <a:rPr sz="2000" b="0">
                <a:solidFill>
                  <a:srgbClr val="111111"/>
                </a:solidFill>
                <a:latin typeface="Century Gothic Paneuropean"/>
              </a:rPr>
              <a:t> — one trigger, four stored procedures and a forensic 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566928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7A7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Century Gothic Paneuropean Bold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6537960"/>
            <a:ext cx="7132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111111"/>
                </a:solidFill>
                <a:latin typeface="Century Gothic Paneuropean"/>
              </a:rPr>
              <a:t>To create a structured database that allows an organization to: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000" b="0">
                <a:solidFill>
                  <a:srgbClr val="111111"/>
                </a:solidFill>
                <a:latin typeface="Century Gothic Paneuropean"/>
              </a:rPr>
              <a:t>Manage employees, roles and risk scores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000" b="0">
                <a:solidFill>
                  <a:srgbClr val="111111"/>
                </a:solidFill>
                <a:latin typeface="Century Gothic Paneuropean"/>
              </a:rPr>
              <a:t>Create and track campaigns by payload type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000" b="0">
                <a:solidFill>
                  <a:srgbClr val="111111"/>
                </a:solidFill>
                <a:latin typeface="Century Gothic Paneuropean"/>
              </a:rPr>
              <a:t>Record link clicks and credential submissions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000" b="0">
                <a:solidFill>
                  <a:srgbClr val="111111"/>
                </a:solidFill>
                <a:latin typeface="Century Gothic Paneuropean"/>
              </a:rPr>
              <a:t>Auto-score risk and lock breached accounts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000" b="0">
                <a:solidFill>
                  <a:srgbClr val="111111"/>
                </a:solidFill>
                <a:latin typeface="Century Gothic Paneuropean"/>
              </a:rPr>
              <a:t>Audit every incident with a forensic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4400" y="5760720"/>
            <a:ext cx="4937760" cy="2011680"/>
          </a:xfrm>
          <a:prstGeom prst="roundRect">
            <a:avLst>
              <a:gd name="adj" fmla="val 50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128" y="2194560"/>
            <a:ext cx="512064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52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ER Diagram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333756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111111"/>
                </a:solidFill>
                <a:latin typeface="Century Gothic Paneuropean"/>
              </a:rPr>
              <a:t>Entity Relationship Diagram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603504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Century Gothic Paneuropean"/>
              </a:rPr>
              <a:t>Double box: SIMULATION_LOG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11111"/>
                </a:solidFill>
                <a:latin typeface="Century Gothic Paneuropean"/>
              </a:rPr>
              <a:t>Employee M : N Campaign via SIMULATION_LOG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11111"/>
                </a:solidFill>
                <a:latin typeface="Century Gothic Paneuropean"/>
              </a:rPr>
              <a:t>Underlined: primary key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743200"/>
            <a:ext cx="11430000" cy="56692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WhatsApp_Image_2026-10-12_at_11_55_20_PM__1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71800"/>
            <a:ext cx="10972800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1417320"/>
            <a:ext cx="1554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entury Gothic Paneuropean Bold"/>
              </a:rPr>
              <a:t>Relational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3317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entury Gothic Paneuropean"/>
              </a:rPr>
              <a:t>Tables, keys and constraints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154680"/>
            <a:ext cx="10607040" cy="42976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83280"/>
            <a:ext cx="10241280" cy="381487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14400" y="7726679"/>
            <a:ext cx="10607040" cy="1874519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7863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Courier New"/>
              </a:rPr>
              <a:t>EMPLOYEE(emp_id PK, name, role, risk_score, account_status)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Courier New"/>
              </a:rPr>
              <a:t>CAMPAIGN(campaign_id PK, title, payload_type)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Courier New"/>
              </a:rPr>
              <a:t>SIMULATION_LOG(log_id PK, campaign_id FK, emp_id FK, link_clicked, creds_submitted)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11111"/>
                </a:solidFill>
                <a:latin typeface="Courier New"/>
              </a:rPr>
              <a:t>FK: emp_id → EMPLOYEE, campaign_id → CAMPAIGN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0" y="3154680"/>
            <a:ext cx="5486400" cy="644652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2161520" y="3383280"/>
            <a:ext cx="493776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Keys &amp;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0" y="4114800"/>
            <a:ext cx="5029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PK on emp_id, campaign_id and log_id (AUTO_INCREMENT)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FK: simulation_log.emp_id → employee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FK: simulation_log.campaign_id → campaign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UNIQUE (campaign_id, emp_id): one log row per employee per campaign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DEFAULTs: risk_score 0, status ACTIVE, link_clicked and creds_submitted FALSE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Employee 1:M log and Campaign 1:M log, so Employee M:N Campaign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1417320"/>
            <a:ext cx="1554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entury Gothic Paneuropean Bold"/>
              </a:rPr>
              <a:t>Sample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3317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entury Gothic Paneuropean"/>
              </a:rPr>
              <a:t>Records inserted into cyber_sim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1546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employee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64240" y="31546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campaign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14400" y="3840480"/>
          <a:ext cx="950976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emp_id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name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role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risk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status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101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Max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Developer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102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Lewis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Sys Admin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103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Michael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HR Manager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104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Sebastian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Finance Lead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105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Niki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Marketing Exec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106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Ayrton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Sales Rep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107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Charles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Customer Support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108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Fernando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Data Analyst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109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Kimi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Intern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110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Alain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Project Manager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1064240" y="3840480"/>
          <a:ext cx="6309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id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title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payload_type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Fake IT Update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Credential Harvester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2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Payroll Document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Malicious Attachment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3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Free Coffee Promo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Link Click Tracker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4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Urgent CEO Request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Spear Phishing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5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Password Expiry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Credential Harvester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11064240" y="7223760"/>
            <a:ext cx="6309360" cy="2148840"/>
          </a:xfrm>
          <a:prstGeom prst="roundRect">
            <a:avLst>
              <a:gd name="adj" fmla="val 5000"/>
            </a:avLst>
          </a:prstGeom>
          <a:solidFill>
            <a:srgbClr val="2B2F3A"/>
          </a:solidFill>
          <a:ln w="12700">
            <a:solidFill>
              <a:srgbClr val="2B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338560" y="745236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entury Gothic Paneuropean"/>
              </a:rPr>
              <a:t>Every employee starts at risk_score 0 and account_status ACTIVE.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entury Gothic Paneuropean"/>
              </a:rPr>
              <a:t>The trigger updates both as simulations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417320"/>
            <a:ext cx="1554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entury Gothic Paneuropean Bold"/>
              </a:rPr>
              <a:t>Trigger: security_monitor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317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entury Gothic Paneuropean"/>
              </a:rPr>
              <a:t>Automatic risk scoring and account lockout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54680"/>
            <a:ext cx="8503920" cy="644652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88720" y="3383280"/>
            <a:ext cx="384048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security_monitor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14800"/>
            <a:ext cx="8046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Courier New"/>
              </a:rPr>
              <a:t>CREATE TRIGGER security_monitor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AFTER UPDATE ON simulation_log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FOR EACH ROW BEGIN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IF NEW.creds_submitted = TRUE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 AND OLD.creds_submitted = FALSE THEN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UPDATE employee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SET risk_score = risk_score + 50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WHERE emp_id = NEW.emp_id;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UPDATE employee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SET account_status =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  'LOCKED - Breach Detected'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WHERE emp_id = NEW.emp_id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    AND risk_score &gt;= 100;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  END IF;</a:t>
            </a:r>
          </a:p>
          <a:p>
            <a:r>
              <a:rPr sz="2000" b="0">
                <a:solidFill>
                  <a:srgbClr val="111111"/>
                </a:solidFill>
                <a:latin typeface="Courier New"/>
              </a:rPr>
              <a:t>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3154680"/>
            <a:ext cx="7589520" cy="1554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400" y="3520440"/>
            <a:ext cx="822960" cy="822960"/>
          </a:xfrm>
          <a:prstGeom prst="ellipse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 Paneuropean Bold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33832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Century Gothic Paneuropean Bold"/>
              </a:rPr>
              <a:t>Fires AFTER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393192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111"/>
                </a:solidFill>
                <a:latin typeface="Century Gothic Paneuropean"/>
              </a:rPr>
              <a:t>Runs on every row updated in simulation_log.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4937760"/>
            <a:ext cx="7589520" cy="1554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58400" y="5303520"/>
            <a:ext cx="822960" cy="822960"/>
          </a:xfrm>
          <a:prstGeom prst="ellipse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 Paneuropean 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51663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Century Gothic Paneuropean Bold"/>
              </a:rPr>
              <a:t>First credential entry: +50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571500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111"/>
                </a:solidFill>
                <a:latin typeface="Century Gothic Paneuropean"/>
              </a:rPr>
              <a:t>Only when creds_submitted changes FALSE to TRUE.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6720840"/>
            <a:ext cx="7589520" cy="1554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0" y="7086600"/>
            <a:ext cx="822960" cy="822960"/>
          </a:xfrm>
          <a:prstGeom prst="ellipse">
            <a:avLst/>
          </a:prstGeom>
          <a:solidFill>
            <a:srgbClr val="2B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 Paneuropean 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9494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1111"/>
                </a:solidFill>
                <a:latin typeface="Century Gothic Paneuropean Bold"/>
              </a:rPr>
              <a:t>Score reaches 100: 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7498079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11111"/>
                </a:solidFill>
                <a:latin typeface="Century Gothic Paneuropean"/>
              </a:rPr>
              <a:t>account_status becomes LOCKED - Breach Detected.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8503920"/>
            <a:ext cx="7589520" cy="1097280"/>
          </a:xfrm>
          <a:prstGeom prst="roundRect">
            <a:avLst>
              <a:gd name="adj" fmla="val 5000"/>
            </a:avLst>
          </a:prstGeom>
          <a:solidFill>
            <a:srgbClr val="2B2F3A"/>
          </a:solidFill>
          <a:ln w="12700">
            <a:solidFill>
              <a:srgbClr val="2B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0" y="864108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entury Gothic Paneuropean"/>
              </a:rPr>
              <a:t>Two successful phishes in different campaigns lock the account.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417320"/>
            <a:ext cx="1554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entury Gothic Paneuropean Bold"/>
              </a:rPr>
              <a:t>Stored Procedures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317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entury Gothic Paneuropean"/>
              </a:rPr>
              <a:t>Four procedures that drive the simulation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54680"/>
            <a:ext cx="8046720" cy="306324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88720" y="3429000"/>
            <a:ext cx="694944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click_link(target_emp, camp_id)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1"/>
                </a:solidFill>
                <a:latin typeface="Century Gothic Paneuropean"/>
              </a:rPr>
              <a:t>Adds the employee to simulation_log with INSERT IGNORE, sets link_clicked = TRUE and prints a TARGET ACQUIRED message.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623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4F5C"/>
                </a:solidFill>
                <a:latin typeface="Century Gothic Paneuropean"/>
              </a:rPr>
              <a:t>Touches: simulation_log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154680"/>
            <a:ext cx="8046720" cy="306324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0" y="3429000"/>
            <a:ext cx="694944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submit_creds(target_emp, camp_id)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0624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1"/>
                </a:solidFill>
                <a:latin typeface="Century Gothic Paneuropean"/>
              </a:rPr>
              <a:t>Allowed only after a click. Sets creds_submitted = TRUE, which fires the trigger. Otherwise returns ACTION DENIED: sequence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623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4F5C"/>
                </a:solidFill>
                <a:latin typeface="Century Gothic Paneuropean"/>
              </a:rPr>
              <a:t>Touches: simulation_log, employee (via trigger)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6537960"/>
            <a:ext cx="8046720" cy="306324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88720" y="6812280"/>
            <a:ext cx="694944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secops_dashboard()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758952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1"/>
                </a:solidFill>
                <a:latin typeface="Century Gothic Paneuropean"/>
              </a:rPr>
              <a:t>SecOps view of every employee: role, vulnerability score and network access, sorted by risk_score DESC.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90068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4F5C"/>
                </a:solidFill>
                <a:latin typeface="Century Gothic Paneuropean"/>
              </a:rPr>
              <a:t>Touches: employee (read only)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6537960"/>
            <a:ext cx="8046720" cy="306324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601200" y="6812280"/>
            <a:ext cx="694944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neutralize_threat(target_emp)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758952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111"/>
                </a:solidFill>
                <a:latin typeface="Century Gothic Paneuropean"/>
              </a:rPr>
              <a:t>Resets risk_score to 0, restores account access and deletes the employee’s simulation_log rows.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90068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4F5C"/>
                </a:solidFill>
                <a:latin typeface="Century Gothic Paneuropean"/>
              </a:rPr>
              <a:t>Touches: employee, simulation_log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417320"/>
            <a:ext cx="1554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Century Gothic Paneuropean Bold"/>
              </a:rPr>
              <a:t>Simulation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317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entury Gothic Paneuropean"/>
              </a:rPr>
              <a:t>One employee, from first click to reset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154680"/>
          <a:ext cx="105156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Step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Call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Risk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entury Gothic Paneuropean Bold"/>
                        </a:rPr>
                        <a:t>Network access</a:t>
                      </a:r>
                    </a:p>
                  </a:txBody>
                  <a:tcPr marL="109728" anchor="ctr">
                    <a:solidFill>
                      <a:srgbClr val="3A3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CALL click_link(101, 1);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2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CALL submit_creds(101, 1);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50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3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CALL click_link(101, 5);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50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4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CALL submit_creds(101, 5);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100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LOCKED - Breach Detected</a:t>
                      </a:r>
                    </a:p>
                  </a:txBody>
                  <a:tcPr marL="109728" anchor="ctr">
                    <a:solidFill>
                      <a:srgbClr val="EE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5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CALL neutralize_threat(101);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0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Century Gothic Paneuropean"/>
                        </a:rPr>
                        <a:t>active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914400" y="6858000"/>
            <a:ext cx="10515600" cy="2697480"/>
          </a:xfrm>
          <a:prstGeom prst="roundRect">
            <a:avLst>
              <a:gd name="adj" fmla="val 5000"/>
            </a:avLst>
          </a:prstGeom>
          <a:solidFill>
            <a:srgbClr val="1E222B"/>
          </a:solidFill>
          <a:ln w="12700">
            <a:solidFill>
              <a:srgbClr val="1E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6995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0A8B8"/>
                </a:solidFill>
                <a:latin typeface="Century Gothic Paneuropean"/>
              </a:rPr>
              <a:t>Sample terminal_output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7498079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7EE787"/>
                </a:solidFill>
                <a:latin typeface="Courier New"/>
              </a:rPr>
              <a:t>&gt;&gt;&gt; TARGET ACQUIRED: employee 101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7EE787"/>
                </a:solidFill>
                <a:latin typeface="Courier New"/>
              </a:rPr>
              <a:t>&gt;&gt;&gt; Connection established to payload...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7EE787"/>
                </a:solidFill>
                <a:latin typeface="Courier New"/>
              </a:rPr>
              <a:t>&gt;&gt;&gt; Awaiting credential input...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7EE787"/>
                </a:solidFill>
                <a:latin typeface="Courier New"/>
              </a:rPr>
              <a:t>&gt;&gt;&gt; ACTION DENIED: sequence error. (submit before click)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0" y="3154680"/>
            <a:ext cx="5486400" cy="640080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2161520" y="3383280"/>
            <a:ext cx="4937760" cy="502920"/>
          </a:xfrm>
          <a:prstGeom prst="roundRect">
            <a:avLst>
              <a:gd name="adj" fmla="val 50000"/>
            </a:avLst>
          </a:prstGeom>
          <a:solidFill>
            <a:srgbClr val="6B7080"/>
          </a:solidFill>
          <a:ln w="12700">
            <a:solidFill>
              <a:srgbClr val="6B7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entury Gothic Paneuropean Bold"/>
              </a:rPr>
              <a:t>forensic_audit_log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0" y="4114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A VIEW joining simulation_log, employee and campaign.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Lists only rows where link_clicked = TRUE, newest first.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Columns: incident_id, target_name, department, attack_vector, payload.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11111"/>
                </a:solidFill>
                <a:latin typeface="Century Gothic Paneuropean"/>
              </a:rPr>
              <a:t>Aliases: link_clicked → link_compromised, creds_submitted → data_exfiltrated.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161520" y="8412480"/>
            <a:ext cx="4937760" cy="777240"/>
          </a:xfrm>
          <a:prstGeom prst="roundRect">
            <a:avLst>
              <a:gd name="adj" fmla="val 20000"/>
            </a:avLst>
          </a:prstGeom>
          <a:solidFill>
            <a:srgbClr val="1E222B"/>
          </a:solidFill>
          <a:ln w="12700">
            <a:solidFill>
              <a:srgbClr val="1E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0" y="8577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7EE787"/>
                </a:solidFill>
                <a:latin typeface="Courier New"/>
              </a:rPr>
              <a:t>SELECT * FROM forensic_audit_log;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18320" y="4114800"/>
            <a:ext cx="7680960" cy="4937760"/>
          </a:xfrm>
          <a:prstGeom prst="roundRect">
            <a:avLst>
              <a:gd name="adj" fmla="val 5000"/>
            </a:avLst>
          </a:prstGeom>
          <a:solidFill>
            <a:srgbClr val="F1F2F4">
              <a:alpha val="100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3337560"/>
            <a:ext cx="8229600" cy="6035040"/>
          </a:xfrm>
          <a:prstGeom prst="roundRect">
            <a:avLst>
              <a:gd name="adj" fmla="val 50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3337560"/>
            <a:ext cx="7863840" cy="6035040"/>
          </a:xfrm>
          <a:prstGeom prst="roundRect">
            <a:avLst>
              <a:gd name="adj" fmla="val 50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24128" y="1417320"/>
            <a:ext cx="15544800" cy="91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54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SQL Queries &amp; Data Retrieval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06324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7A7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Century Gothic Paneuropean Bold"/>
              </a:rPr>
              <a:t>Simulation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14800"/>
            <a:ext cx="713232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300" b="0">
                <a:solidFill>
                  <a:srgbClr val="111111"/>
                </a:solidFill>
                <a:latin typeface="Century Gothic Paneuropean"/>
              </a:rPr>
              <a:t>The SIMULATION_LOG table records the result of each phishing simulation.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300" b="1">
                <a:solidFill>
                  <a:srgbClr val="111111"/>
                </a:solidFill>
                <a:latin typeface="Century Gothic Paneuropean Bold"/>
              </a:rPr>
              <a:t>Tracked Information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300" b="1">
                <a:solidFill>
                  <a:srgbClr val="111111"/>
                </a:solidFill>
                <a:latin typeface="Century Gothic Paneuropean Bold"/>
              </a:rPr>
              <a:t>Link Clicked</a:t>
            </a:r>
            <a:r>
              <a:rPr sz="2300" b="0">
                <a:solidFill>
                  <a:srgbClr val="111111"/>
                </a:solidFill>
                <a:latin typeface="Century Gothic Paneuropean"/>
              </a:rPr>
              <a:t> — whether the employee clicked the simulated link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300" b="1">
                <a:solidFill>
                  <a:srgbClr val="111111"/>
                </a:solidFill>
                <a:latin typeface="Century Gothic Paneuropean Bold"/>
              </a:rPr>
              <a:t>Creds Submitted</a:t>
            </a:r>
            <a:r>
              <a:rPr sz="2300" b="0">
                <a:solidFill>
                  <a:srgbClr val="111111"/>
                </a:solidFill>
                <a:latin typeface="Century Gothic Paneuropean"/>
              </a:rPr>
              <a:t> — whether credentials were entered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300" b="1">
                <a:solidFill>
                  <a:srgbClr val="111111"/>
                </a:solidFill>
                <a:latin typeface="Century Gothic Paneuropean Bold"/>
              </a:rPr>
              <a:t>Campaign </a:t>
            </a:r>
            <a:r>
              <a:rPr sz="2300" b="0">
                <a:solidFill>
                  <a:srgbClr val="111111"/>
                </a:solidFill>
                <a:latin typeface="Century Gothic Paneuropean"/>
              </a:rPr>
              <a:t>— which phishing campaign was used</a:t>
            </a:r>
          </a:p>
          <a:p>
            <a:pPr marL="347472" indent="-347472"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2300" b="1">
                <a:solidFill>
                  <a:srgbClr val="111111"/>
                </a:solidFill>
                <a:latin typeface="Century Gothic Paneuropean Bold"/>
              </a:rPr>
              <a:t>Employee </a:t>
            </a:r>
            <a:r>
              <a:rPr sz="2300" b="0">
                <a:solidFill>
                  <a:srgbClr val="111111"/>
                </a:solidFill>
                <a:latin typeface="Century Gothic Paneuropean"/>
              </a:rPr>
              <a:t>— which employee participated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3063240"/>
            <a:ext cx="4389120" cy="548640"/>
          </a:xfrm>
          <a:prstGeom prst="roundRect">
            <a:avLst>
              <a:gd name="adj" fmla="val 50000"/>
            </a:avLst>
          </a:prstGeom>
          <a:solidFill>
            <a:srgbClr val="7A7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Century Gothic Paneuropean Bold"/>
              </a:rPr>
              <a:t>Basic Data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4754880"/>
            <a:ext cx="6949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0"/>
              </a:spcAft>
            </a:pPr>
            <a:r>
              <a:rPr sz="2400" b="1">
                <a:solidFill>
                  <a:srgbClr val="111111"/>
                </a:solidFill>
                <a:latin typeface="Courier New"/>
              </a:rPr>
              <a:t>SELECT * FROM employee;</a:t>
            </a:r>
          </a:p>
          <a:p>
            <a:pPr algn="l">
              <a:spcBef>
                <a:spcPts val="0"/>
              </a:spcBef>
              <a:spcAft>
                <a:spcPts val="4000"/>
              </a:spcAft>
            </a:pPr>
            <a:r>
              <a:rPr sz="2400" b="1">
                <a:solidFill>
                  <a:srgbClr val="111111"/>
                </a:solidFill>
                <a:latin typeface="Courier New"/>
              </a:rPr>
              <a:t>SELECT * FROM campaign;</a:t>
            </a:r>
          </a:p>
          <a:p>
            <a:pPr algn="l">
              <a:spcBef>
                <a:spcPts val="0"/>
              </a:spcBef>
              <a:spcAft>
                <a:spcPts val="4000"/>
              </a:spcAft>
            </a:pPr>
            <a:r>
              <a:rPr sz="2400" b="1">
                <a:solidFill>
                  <a:srgbClr val="111111"/>
                </a:solidFill>
                <a:latin typeface="Courier New"/>
              </a:rPr>
              <a:t>SELECT * FROM simulation_log;</a:t>
            </a:r>
          </a:p>
          <a:p>
            <a:pPr algn="l">
              <a:spcBef>
                <a:spcPts val="0"/>
              </a:spcBef>
              <a:spcAft>
                <a:spcPts val="4000"/>
              </a:spcAft>
            </a:pPr>
            <a:r>
              <a:rPr sz="2400" b="1">
                <a:solidFill>
                  <a:srgbClr val="111111"/>
                </a:solidFill>
                <a:latin typeface="Courier New"/>
              </a:rPr>
              <a:t>SELECT * FROM forensic_audit_log;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3317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entury Gothic Paneuropean"/>
              </a:rPr>
              <a:t>Reading the simulation tables and the forensic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2161520" y="3337560"/>
            <a:ext cx="5212080" cy="6400800"/>
          </a:xfrm>
          <a:prstGeom prst="roundRect">
            <a:avLst>
              <a:gd name="adj" fmla="val 50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0" y="3337560"/>
            <a:ext cx="5029200" cy="6400800"/>
          </a:xfrm>
          <a:prstGeom prst="roundRect">
            <a:avLst>
              <a:gd name="adj" fmla="val 50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3337560"/>
            <a:ext cx="5760720" cy="6400800"/>
          </a:xfrm>
          <a:prstGeom prst="roundRect">
            <a:avLst>
              <a:gd name="adj" fmla="val 500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D3D5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024128" y="1417320"/>
            <a:ext cx="15544800" cy="91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54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DBMS Concepts &amp; Conclusion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321040" y="7360920"/>
            <a:ext cx="2103120" cy="2221992"/>
            <a:chOff x="0" y="0"/>
            <a:chExt cx="1087529" cy="11489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7529" cy="1148984"/>
            </a:xfrm>
            <a:custGeom>
              <a:avLst/>
              <a:gdLst/>
              <a:ahLst/>
              <a:cxnLst/>
              <a:rect l="l" t="t" r="r" b="b"/>
              <a:pathLst>
                <a:path w="1087529" h="1148984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1123617"/>
                  </a:lnTo>
                  <a:cubicBezTo>
                    <a:pt x="1087529" y="1130345"/>
                    <a:pt x="1084856" y="1136797"/>
                    <a:pt x="1080099" y="1141554"/>
                  </a:cubicBezTo>
                  <a:cubicBezTo>
                    <a:pt x="1075342" y="1146311"/>
                    <a:pt x="1068890" y="1148984"/>
                    <a:pt x="1062162" y="1148984"/>
                  </a:cubicBezTo>
                  <a:lnTo>
                    <a:pt x="25366" y="1148984"/>
                  </a:lnTo>
                  <a:cubicBezTo>
                    <a:pt x="18639" y="1148984"/>
                    <a:pt x="12187" y="1146311"/>
                    <a:pt x="7430" y="1141554"/>
                  </a:cubicBezTo>
                  <a:cubicBezTo>
                    <a:pt x="2673" y="1136797"/>
                    <a:pt x="0" y="1130345"/>
                    <a:pt x="0" y="1123617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3"/>
              <a:stretch>
                <a:fillRect l="-28187" r="-2818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63240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7A7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 u="none">
                <a:solidFill>
                  <a:srgbClr val="FFFFFF"/>
                </a:solidFill>
                <a:latin typeface="Century Gothic Paneuropean Bold"/>
              </a:rPr>
              <a:t>DBMS Concepts Demonstrated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14800"/>
            <a:ext cx="521208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Relational Database Design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Primary &amp; Foreign Keys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Composite UNIQUE Constraint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DEFAULT Values &amp; AUTO_INCREMENT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Triggers (AFTER UPDATE)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Stored Procedures (IN params)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Views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JOIN Operations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INSERT IGNORE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Conditional Logic (IF / ELSE)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Aggregate Function COUNT()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Century Gothic Paneuropean"/>
              </a:rPr>
              <a:t>Data Retrieval using SELECT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06324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7A7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Century Gothic Paneuropean Bold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114800"/>
            <a:ext cx="44805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100" b="0">
                <a:solidFill>
                  <a:srgbClr val="111111"/>
                </a:solidFill>
                <a:latin typeface="Century Gothic Paneuropean"/>
              </a:rPr>
              <a:t>Training plans for high-risk staff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100" b="0">
                <a:solidFill>
                  <a:srgbClr val="111111"/>
                </a:solidFill>
                <a:latin typeface="Century Gothic Paneuropean"/>
              </a:rPr>
              <a:t>Campaign performance dashboard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100" b="0">
                <a:solidFill>
                  <a:srgbClr val="111111"/>
                </a:solidFill>
                <a:latin typeface="Century Gothic Paneuropean"/>
              </a:rPr>
              <a:t>Automated email campaign integration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100" b="0">
                <a:solidFill>
                  <a:srgbClr val="111111"/>
                </a:solidFill>
                <a:latin typeface="Century Gothic Paneuropean"/>
              </a:rPr>
              <a:t>Role-based access for SecOps</a:t>
            </a:r>
          </a:p>
          <a:p>
            <a:pPr marL="347472" indent="-347472" algn="l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2100" b="0">
                <a:solidFill>
                  <a:srgbClr val="111111"/>
                </a:solidFill>
                <a:latin typeface="Century Gothic Paneuropean"/>
              </a:rPr>
              <a:t>Historical campaign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435840" y="306324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7A7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Century Gothic Paneuropean Bold"/>
              </a:rPr>
              <a:t>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0" y="4114800"/>
            <a:ext cx="457200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100" b="0">
                <a:solidFill>
                  <a:srgbClr val="111111"/>
                </a:solidFill>
                <a:latin typeface="Century Gothic Paneuropean"/>
              </a:rPr>
              <a:t>The Phishing Simulation Tracker manages phishing awareness campaigns, logs employee responses and scores risk automatically.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0">
                <a:solidFill>
                  <a:srgbClr val="111111"/>
                </a:solidFill>
                <a:latin typeface="Century Gothic Paneuropean"/>
              </a:rPr>
              <a:t>A trigger and stored procedures turn each click and credential entry into a risk score, lock breached accounts and let SecOps review or reset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23317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11111"/>
                </a:solidFill>
                <a:latin typeface="Century Gothic Paneuropean"/>
              </a:rPr>
              <a:t>What the project demonstrates and where it goes next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r="-9062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6938231" y="7793670"/>
            <a:ext cx="9447371" cy="959077"/>
            <a:chOff x="0" y="0"/>
            <a:chExt cx="976614" cy="991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6614" cy="99144"/>
            </a:xfrm>
            <a:custGeom>
              <a:avLst/>
              <a:gdLst/>
              <a:ahLst/>
              <a:cxnLst/>
              <a:rect l="l" t="t" r="r" b="b"/>
              <a:pathLst>
                <a:path w="976614" h="99144">
                  <a:moveTo>
                    <a:pt x="41793" y="0"/>
                  </a:moveTo>
                  <a:lnTo>
                    <a:pt x="934821" y="0"/>
                  </a:lnTo>
                  <a:cubicBezTo>
                    <a:pt x="945905" y="0"/>
                    <a:pt x="956535" y="4403"/>
                    <a:pt x="964373" y="12241"/>
                  </a:cubicBezTo>
                  <a:cubicBezTo>
                    <a:pt x="972211" y="20079"/>
                    <a:pt x="976614" y="30709"/>
                    <a:pt x="976614" y="41793"/>
                  </a:cubicBezTo>
                  <a:lnTo>
                    <a:pt x="976614" y="57350"/>
                  </a:lnTo>
                  <a:cubicBezTo>
                    <a:pt x="976614" y="68435"/>
                    <a:pt x="972211" y="79065"/>
                    <a:pt x="964373" y="86903"/>
                  </a:cubicBezTo>
                  <a:cubicBezTo>
                    <a:pt x="956535" y="94741"/>
                    <a:pt x="945905" y="99144"/>
                    <a:pt x="934821" y="99144"/>
                  </a:cubicBezTo>
                  <a:lnTo>
                    <a:pt x="41793" y="99144"/>
                  </a:lnTo>
                  <a:cubicBezTo>
                    <a:pt x="30709" y="99144"/>
                    <a:pt x="20079" y="94741"/>
                    <a:pt x="12241" y="86903"/>
                  </a:cubicBezTo>
                  <a:cubicBezTo>
                    <a:pt x="4403" y="79065"/>
                    <a:pt x="0" y="68435"/>
                    <a:pt x="0" y="57350"/>
                  </a:cubicBezTo>
                  <a:lnTo>
                    <a:pt x="0" y="41793"/>
                  </a:lnTo>
                  <a:cubicBezTo>
                    <a:pt x="0" y="30709"/>
                    <a:pt x="4403" y="20079"/>
                    <a:pt x="12241" y="12241"/>
                  </a:cubicBezTo>
                  <a:cubicBezTo>
                    <a:pt x="20079" y="4403"/>
                    <a:pt x="30709" y="0"/>
                    <a:pt x="41793" y="0"/>
                  </a:cubicBezTo>
                  <a:close/>
                </a:path>
              </a:pathLst>
            </a:custGeom>
            <a:solidFill>
              <a:srgbClr val="7A7D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76614" cy="137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462230" y="2285963"/>
            <a:ext cx="7019659" cy="7416330"/>
            <a:chOff x="0" y="0"/>
            <a:chExt cx="1087529" cy="1148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7529" cy="1148984"/>
            </a:xfrm>
            <a:custGeom>
              <a:avLst/>
              <a:gdLst/>
              <a:ahLst/>
              <a:cxnLst/>
              <a:rect l="l" t="t" r="r" b="b"/>
              <a:pathLst>
                <a:path w="1087529" h="1148984">
                  <a:moveTo>
                    <a:pt x="25366" y="0"/>
                  </a:moveTo>
                  <a:lnTo>
                    <a:pt x="1062162" y="0"/>
                  </a:lnTo>
                  <a:cubicBezTo>
                    <a:pt x="1068890" y="0"/>
                    <a:pt x="1075342" y="2673"/>
                    <a:pt x="1080099" y="7430"/>
                  </a:cubicBezTo>
                  <a:cubicBezTo>
                    <a:pt x="1084856" y="12187"/>
                    <a:pt x="1087529" y="18639"/>
                    <a:pt x="1087529" y="25366"/>
                  </a:cubicBezTo>
                  <a:lnTo>
                    <a:pt x="1087529" y="1123617"/>
                  </a:lnTo>
                  <a:cubicBezTo>
                    <a:pt x="1087529" y="1130345"/>
                    <a:pt x="1084856" y="1136797"/>
                    <a:pt x="1080099" y="1141554"/>
                  </a:cubicBezTo>
                  <a:cubicBezTo>
                    <a:pt x="1075342" y="1146311"/>
                    <a:pt x="1068890" y="1148984"/>
                    <a:pt x="1062162" y="1148984"/>
                  </a:cubicBezTo>
                  <a:lnTo>
                    <a:pt x="25366" y="1148984"/>
                  </a:lnTo>
                  <a:cubicBezTo>
                    <a:pt x="18639" y="1148984"/>
                    <a:pt x="12187" y="1146311"/>
                    <a:pt x="7430" y="1141554"/>
                  </a:cubicBezTo>
                  <a:cubicBezTo>
                    <a:pt x="2673" y="1136797"/>
                    <a:pt x="0" y="1130345"/>
                    <a:pt x="0" y="1123617"/>
                  </a:cubicBezTo>
                  <a:lnTo>
                    <a:pt x="0" y="25366"/>
                  </a:lnTo>
                  <a:cubicBezTo>
                    <a:pt x="0" y="18639"/>
                    <a:pt x="2673" y="12187"/>
                    <a:pt x="7430" y="7430"/>
                  </a:cubicBezTo>
                  <a:cubicBezTo>
                    <a:pt x="12187" y="2673"/>
                    <a:pt x="18639" y="0"/>
                    <a:pt x="25366" y="0"/>
                  </a:cubicBezTo>
                  <a:close/>
                </a:path>
              </a:pathLst>
            </a:custGeom>
            <a:blipFill>
              <a:blip r:embed="rId3"/>
              <a:stretch>
                <a:fillRect l="-16031" r="-1603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7059010" y="2459572"/>
            <a:ext cx="7315200" cy="2236253"/>
          </a:xfrm>
          <a:custGeom>
            <a:avLst/>
            <a:gdLst/>
            <a:ahLst/>
            <a:cxnLst/>
            <a:rect l="l" t="t" r="r" b="b"/>
            <a:pathLst>
              <a:path w="7315200" h="2236253">
                <a:moveTo>
                  <a:pt x="7315200" y="0"/>
                </a:moveTo>
                <a:lnTo>
                  <a:pt x="0" y="0"/>
                </a:lnTo>
                <a:lnTo>
                  <a:pt x="0" y="2236253"/>
                </a:lnTo>
                <a:lnTo>
                  <a:pt x="7315200" y="2236253"/>
                </a:lnTo>
                <a:lnTo>
                  <a:pt x="73152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2067276" y="7686877"/>
            <a:ext cx="3490153" cy="4030833"/>
          </a:xfrm>
          <a:custGeom>
            <a:avLst/>
            <a:gdLst/>
            <a:ahLst/>
            <a:cxnLst/>
            <a:rect l="l" t="t" r="r" b="b"/>
            <a:pathLst>
              <a:path w="3490153" h="4030833">
                <a:moveTo>
                  <a:pt x="0" y="0"/>
                </a:moveTo>
                <a:lnTo>
                  <a:pt x="3490153" y="0"/>
                </a:lnTo>
                <a:lnTo>
                  <a:pt x="3490153" y="4030832"/>
                </a:lnTo>
                <a:lnTo>
                  <a:pt x="0" y="40308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938231" y="5076825"/>
            <a:ext cx="10727255" cy="2384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58109" y="7814753"/>
            <a:ext cx="7207615" cy="82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 Your Attention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128" y="758952"/>
            <a:ext cx="41148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Phishing Simulation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1263</Words>
  <Application>Microsoft Office PowerPoint</Application>
  <PresentationFormat>Custom</PresentationFormat>
  <Paragraphs>252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Century Gothic Paneuropean Bold</vt:lpstr>
      <vt:lpstr>Calibri</vt:lpstr>
      <vt:lpstr>Century Gothic Paneuropean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Arun Sheppillayar</cp:lastModifiedBy>
  <cp:revision>2</cp:revision>
  <dcterms:created xsi:type="dcterms:W3CDTF">2006-08-16T00:00:00Z</dcterms:created>
  <dcterms:modified xsi:type="dcterms:W3CDTF">2026-10-14T14:34:59Z</dcterms:modified>
  <dc:identifier>DAHWu0zF79o</dc:identifier>
</cp:coreProperties>
</file>